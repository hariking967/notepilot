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7" r:id="rId4"/>
  </p:sldMasterIdLst>
  <p:notesMasterIdLst>
    <p:notesMasterId r:id="rId20"/>
  </p:notesMasterIdLst>
  <p:handoutMasterIdLst>
    <p:handoutMasterId r:id="rId21"/>
  </p:handoutMasterIdLst>
  <p:sldIdLst>
    <p:sldId id="268" r:id="rId5"/>
    <p:sldId id="271" r:id="rId6"/>
    <p:sldId id="270" r:id="rId7"/>
    <p:sldId id="272" r:id="rId8"/>
    <p:sldId id="273" r:id="rId9"/>
    <p:sldId id="280" r:id="rId10"/>
    <p:sldId id="278" r:id="rId11"/>
    <p:sldId id="274" r:id="rId12"/>
    <p:sldId id="281" r:id="rId13"/>
    <p:sldId id="277" r:id="rId14"/>
    <p:sldId id="279" r:id="rId15"/>
    <p:sldId id="275" r:id="rId16"/>
    <p:sldId id="282" r:id="rId17"/>
    <p:sldId id="27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E1F1"/>
    <a:srgbClr val="0B1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3" Type="http://schemas.openxmlformats.org/officeDocument/2006/relationships/customXml" Target="../customXml/item3.xml" /><Relationship Id="rId21" Type="http://schemas.openxmlformats.org/officeDocument/2006/relationships/handoutMaster" Target="handoutMasters/handoutMaster1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notesMaster" Target="notesMasters/notesMaster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theme" Target="theme/theme1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viewProps" Target="viewProps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0BB816-636F-4C40-9EC7-A3BA365B89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CE0D02-F780-4697-9A30-3F10F4D67C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9885C-64C6-4202-8B65-38170DBD673D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C7536-00AB-4C14-90D3-7D88603F2A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BC111-E561-48D6-9DB3-85F8BE552B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AA4D1-BF1D-4260-B442-EBD7859EC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46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49326-15A5-4041-B3F6-1CB1FE84075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39BA2-F127-4DB1-B8FD-D5A70CC3E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0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39BA2-F127-4DB1-B8FD-D5A70CC3E0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49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39BA2-F127-4DB1-B8FD-D5A70CC3E01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98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5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31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90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51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28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32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93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66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32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92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5960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75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0453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80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21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30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2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jpe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1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F2CC0B-D5F1-40B8-9CC6-4A36850B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1A23FE0C-9A67-334E-9B7F-83AA9CF636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224" y="-5953"/>
            <a:ext cx="12192000" cy="6857990"/>
          </a:xfrm>
          <a:prstGeom prst="rect">
            <a:avLst/>
          </a:prstGeom>
        </p:spPr>
      </p:pic>
      <p:sp>
        <p:nvSpPr>
          <p:cNvPr id="13" name="Subtitle 12">
            <a:extLst>
              <a:ext uri="{FF2B5EF4-FFF2-40B4-BE49-F238E27FC236}">
                <a16:creationId xmlns:a16="http://schemas.microsoft.com/office/drawing/2014/main" id="{F05262DB-6398-4AF9-96A3-041CFB112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933" y="1761021"/>
            <a:ext cx="8915399" cy="112628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2"/>
                </a:solidFill>
              </a:rPr>
              <a:t>GENDER EQUALITY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1C6CE6-1810-44ED-A6D7-3FF53040A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1F6D8BFE-D0D0-4BAE-9D5A-701DE7D3C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F86D30-CEDB-4D96-AF73-AA3CD5A43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F5187540-C4C8-410C-A395-69FCB1C8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75BD6E4A-797C-451B-B08F-D99C1A9D1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0D241082-BAFA-462E-827B-5814B020F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2920CCBD-116D-450B-9608-99F05F7D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A57CD3DE-CEAF-4BD4-A5EF-24B3E622B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4EC3258C-366B-4629-A7D3-5173D363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D444D63A-CE2B-4ACD-BA0E-4ADECAD8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7A504DF6-187A-4A54-96E8-3F3F28AAA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FE04C6F5-6DC5-4C7E-9278-9BE624FC7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94A02D9B-E6A9-4D6A-9D2A-D81C76802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8034A6-3565-46AA-9E73-1C954666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04947AA2-A772-42CB-9CEC-065095D3D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83C52D84-DEC1-4E16-972E-8EEA5D52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2036A28D-EF09-41F7-906F-CF405361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EE8D92C7-C907-4120-95E3-80E3DC85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BCEAAB8-CD22-41D7-B330-702682A27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6BBC1FEE-3D72-492B-8D8A-BE1A5507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C28C6E5C-C393-435C-96A1-AA2859B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2C2C991F-AC51-4DF5-B8DD-19B08C1CB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9C916B5F-285D-4F5A-9085-6781753AF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0375DD5F-9D17-4873-B697-3D44A5EBE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A159BBC7-6A8B-4612-94A8-5632345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177C901C-F8DE-4C99-95C8-F8CA1B84F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D1D655F2-6D15-4265-ADEE-EF0075C1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Freeform 69">
            <a:extLst>
              <a:ext uri="{FF2B5EF4-FFF2-40B4-BE49-F238E27FC236}">
                <a16:creationId xmlns:a16="http://schemas.microsoft.com/office/drawing/2014/main" id="{3248A930-1A6E-4EFB-8213-D1AC735BE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DF63C0-3B16-72C9-9312-65FBD8CDF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532" y="340890"/>
            <a:ext cx="6274764" cy="371919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A81B9DB-2E14-DB72-AD04-F36B41E90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934" y="76591"/>
            <a:ext cx="8915399" cy="2262781"/>
          </a:xfrm>
        </p:spPr>
        <p:txBody>
          <a:bodyPr/>
          <a:lstStyle/>
          <a:p>
            <a:r>
              <a:rPr lang="en-US" b="1">
                <a:solidFill>
                  <a:srgbClr val="0FE1F1"/>
                </a:solidFill>
              </a:rPr>
              <a:t>#SDG5</a:t>
            </a:r>
            <a:br>
              <a:rPr lang="en-US">
                <a:solidFill>
                  <a:schemeClr val="accent6"/>
                </a:solidFill>
              </a:rPr>
            </a:br>
            <a:endParaRPr lang="en-US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1A12D-CFF5-451F-D79E-2F354D6CD223}"/>
              </a:ext>
            </a:extLst>
          </p:cNvPr>
          <p:cNvSpPr txBox="1"/>
          <p:nvPr/>
        </p:nvSpPr>
        <p:spPr>
          <a:xfrm>
            <a:off x="8510696" y="4154396"/>
            <a:ext cx="430543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500" b="1">
                <a:solidFill>
                  <a:schemeClr val="accent2"/>
                </a:solidFill>
              </a:rPr>
              <a:t>BY</a:t>
            </a:r>
          </a:p>
          <a:p>
            <a:pPr algn="l"/>
            <a:endParaRPr lang="en-US" sz="2500" b="1">
              <a:solidFill>
                <a:schemeClr val="accent2"/>
              </a:solidFill>
            </a:endParaRPr>
          </a:p>
          <a:p>
            <a:pPr algn="l"/>
            <a:r>
              <a:rPr lang="en-US" sz="2500" b="1">
                <a:solidFill>
                  <a:schemeClr val="accent2"/>
                </a:solidFill>
              </a:rPr>
              <a:t>NITHILLAKRISHI</a:t>
            </a:r>
          </a:p>
          <a:p>
            <a:pPr algn="l"/>
            <a:endParaRPr lang="en-US" sz="2500" b="1">
              <a:solidFill>
                <a:schemeClr val="accent2"/>
              </a:solidFill>
            </a:endParaRPr>
          </a:p>
          <a:p>
            <a:pPr algn="l"/>
            <a:r>
              <a:rPr lang="en-US" sz="2500" b="1">
                <a:solidFill>
                  <a:schemeClr val="accent2"/>
                </a:solidFill>
              </a:rPr>
              <a:t>ARJUN</a:t>
            </a:r>
          </a:p>
          <a:p>
            <a:pPr algn="l"/>
            <a:endParaRPr lang="en-US">
              <a:solidFill>
                <a:schemeClr val="accent2"/>
              </a:solidFill>
            </a:endParaRPr>
          </a:p>
          <a:p>
            <a:pPr algn="l"/>
            <a:endParaRPr lang="en-US"/>
          </a:p>
          <a:p>
            <a:pPr algn="l"/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1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6A3EB-9BF9-9F02-2B28-018C36D0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285" y="1156716"/>
            <a:ext cx="8911687" cy="4544568"/>
          </a:xfrm>
        </p:spPr>
        <p:txBody>
          <a:bodyPr>
            <a:normAutofit/>
          </a:bodyPr>
          <a:lstStyle/>
          <a:p>
            <a:pPr algn="ctr"/>
            <a:br>
              <a:rPr lang="en-US" sz="5400" b="1">
                <a:solidFill>
                  <a:schemeClr val="accent4"/>
                </a:solidFill>
              </a:rPr>
            </a:br>
            <a:r>
              <a:rPr lang="en-US" sz="5400" b="1">
                <a:solidFill>
                  <a:srgbClr val="0FE1F1"/>
                </a:solidFill>
              </a:rPr>
              <a:t>“Achieve gender equality and empower all women and girls”</a:t>
            </a:r>
            <a:endParaRPr lang="en-IN" sz="5400" b="1">
              <a:solidFill>
                <a:srgbClr val="0FE1F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F6235-649B-D657-A455-B6B84F859EB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4704080" y="5911222"/>
            <a:ext cx="508000" cy="83178"/>
          </a:xfrm>
        </p:spPr>
        <p:txBody>
          <a:bodyPr>
            <a:normAutofit fontScale="25000" lnSpcReduction="20000"/>
          </a:bodyPr>
          <a:lstStyle/>
          <a:p>
            <a:endParaRPr lang="en-IN" sz="4800"/>
          </a:p>
        </p:txBody>
      </p:sp>
    </p:spTree>
    <p:extLst>
      <p:ext uri="{BB962C8B-B14F-4D97-AF65-F5344CB8AC3E}">
        <p14:creationId xmlns:p14="http://schemas.microsoft.com/office/powerpoint/2010/main" val="804524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F7676-E8E3-F8B9-DA38-C2A26FB30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05761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IN" b="1">
                <a:solidFill>
                  <a:srgbClr val="0FE1F1"/>
                </a:solidFill>
              </a:rPr>
              <a:t>OVERVIEW</a:t>
            </a:r>
            <a:endParaRPr lang="en-IN" sz="3200" b="1">
              <a:solidFill>
                <a:srgbClr val="0FE1F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41111-2658-2768-A405-74D33291C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636" y="1712259"/>
            <a:ext cx="8915400" cy="377762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8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INTRODUCTION 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8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IN" sz="28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UN TARGETS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8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IN" sz="28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PROMOTING GENDER EQUALITY:A SHARED RESPONSIBILITY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8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IN" sz="28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800">
              <a:solidFill>
                <a:schemeClr val="accent2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sz="2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046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DC7B-4C7E-2D50-88C6-03AF3E63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469" y="624110"/>
            <a:ext cx="9153144" cy="1280890"/>
          </a:xfrm>
        </p:spPr>
        <p:txBody>
          <a:bodyPr/>
          <a:lstStyle/>
          <a:p>
            <a:r>
              <a:rPr lang="en-IN" b="1">
                <a:solidFill>
                  <a:srgbClr val="0FE1F1"/>
                </a:solidFill>
              </a:rPr>
              <a:t>WHAT IS </a:t>
            </a:r>
            <a:r>
              <a:rPr lang="en-IN" b="1" u="sng">
                <a:solidFill>
                  <a:srgbClr val="0FE1F1"/>
                </a:solidFill>
              </a:rPr>
              <a:t>GENDER EQUALITY</a:t>
            </a:r>
            <a:r>
              <a:rPr lang="en-IN" b="1">
                <a:solidFill>
                  <a:srgbClr val="0FE1F1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AA8EB-A119-6A8B-C427-AD73F01B7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468" y="1676400"/>
            <a:ext cx="891540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/>
          </a:p>
          <a:p>
            <a:pPr>
              <a:lnSpc>
                <a:spcPct val="150000"/>
              </a:lnSpc>
            </a:pPr>
            <a:r>
              <a:rPr lang="en-US" sz="2000"/>
              <a:t>GENDER EQUALITY, ALSO KNOWN AS SEXUAL EQUALITY OR EQUALITY OF THE SEXES, IS THE STATE OF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EQUAL EASE OF ACCESS </a:t>
            </a:r>
            <a:r>
              <a:rPr lang="en-US" sz="2000"/>
              <a:t>TO RESOURCES AND OPPORTUNITIES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REGARDLESS OF GENDER</a:t>
            </a:r>
            <a:r>
              <a:rPr lang="en-US" sz="2000"/>
              <a:t>, INCLUDING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ECONOMIC PARTICIPATION AND DECISION-MAKING</a:t>
            </a:r>
            <a:r>
              <a:rPr lang="en-US" sz="2000"/>
              <a:t>, AND THE STATE OF VALUING DIFFERENT BEHAVIORS, ASPIRATIONS, AND NEEDS EQUALLY, ALSO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 REGARDLESS OF GENDER</a:t>
            </a:r>
            <a:r>
              <a:rPr lang="en-US" sz="2000"/>
              <a:t>.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579985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D6D5-C187-C15D-7F2D-759365EF0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211" y="624110"/>
            <a:ext cx="9647401" cy="1280890"/>
          </a:xfrm>
        </p:spPr>
        <p:txBody>
          <a:bodyPr/>
          <a:lstStyle/>
          <a:p>
            <a:r>
              <a:rPr lang="en-IN" b="1">
                <a:solidFill>
                  <a:srgbClr val="0FE1F1"/>
                </a:solidFill>
              </a:rPr>
              <a:t>UN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00BE0-435F-1A4A-0FBC-72E90AA1E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211" y="1604211"/>
            <a:ext cx="8915400" cy="377762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/>
              <a:t>TARGET 5.1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000"/>
              <a:t>END ALL FORMS OF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DISCRIMINATION </a:t>
            </a:r>
            <a:r>
              <a:rPr lang="en-US" sz="2000"/>
              <a:t>AGAINST ALL WOMEN AND GIRLS EVERYWHERE.</a:t>
            </a:r>
          </a:p>
          <a:p>
            <a:pPr>
              <a:lnSpc>
                <a:spcPct val="150000"/>
              </a:lnSpc>
            </a:pPr>
            <a:endParaRPr lang="en-US" sz="2000"/>
          </a:p>
          <a:p>
            <a:pPr>
              <a:lnSpc>
                <a:spcPct val="150000"/>
              </a:lnSpc>
            </a:pPr>
            <a:r>
              <a:rPr lang="en-US" sz="2000"/>
              <a:t>TARGET 5.2</a:t>
            </a:r>
          </a:p>
          <a:p>
            <a:pPr>
              <a:lnSpc>
                <a:spcPct val="150000"/>
              </a:lnSpc>
            </a:pPr>
            <a:r>
              <a:rPr lang="en-US" sz="2000"/>
              <a:t>ELIMINATE ALL FORMS OF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VIOLENCE</a:t>
            </a:r>
            <a:r>
              <a:rPr lang="en-US" sz="2000"/>
              <a:t> AGAINST ALL WOMEN AND GIRLS IN THE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PUBLIC AND PRIVATE SPHERES</a:t>
            </a:r>
            <a:r>
              <a:rPr lang="en-US" sz="2000"/>
              <a:t>, INCLUDING TRAFFICKING AND SEXUAL AND OTHER TYPES OF EXPLOITATION.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063431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4CF1E-1913-1628-8DF5-5DC9688B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FE1F1"/>
                </a:solidFill>
              </a:rPr>
              <a:t>UN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989C0-6424-616C-953D-DEC525BC9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5453" y="1540189"/>
            <a:ext cx="8915400" cy="377762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/>
              <a:t>TARGET 5.3</a:t>
            </a:r>
          </a:p>
          <a:p>
            <a:pPr>
              <a:lnSpc>
                <a:spcPct val="150000"/>
              </a:lnSpc>
            </a:pPr>
            <a:r>
              <a:rPr lang="en-US" sz="2000"/>
              <a:t>ELIMINATE ALL HARMFUL PRACTICES, SUCH AS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CHILD, EARLY AND FORCED MARRIAGE AND FEMALE GENITAL MUTILATION</a:t>
            </a:r>
            <a:r>
              <a:rPr lang="en-US" sz="2000"/>
              <a:t>.</a:t>
            </a:r>
          </a:p>
          <a:p>
            <a:pPr>
              <a:lnSpc>
                <a:spcPct val="150000"/>
              </a:lnSpc>
            </a:pPr>
            <a:r>
              <a:rPr lang="en-US" sz="2000"/>
              <a:t>TARGET 5.4</a:t>
            </a:r>
          </a:p>
          <a:p>
            <a:pPr>
              <a:lnSpc>
                <a:spcPct val="150000"/>
              </a:lnSpc>
            </a:pPr>
            <a:r>
              <a:rPr lang="en-US" sz="2000"/>
              <a:t>RECOGNIZE AND VALUE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UNPAID CARE AND DOMESTIC WORK</a:t>
            </a:r>
            <a:r>
              <a:rPr lang="en-US" sz="2000" u="sng"/>
              <a:t> </a:t>
            </a:r>
            <a:r>
              <a:rPr lang="en-US" sz="2000"/>
              <a:t>THROUGH THE PROVISION OF PUBLIC SERVICES, INFRASTRUCTURE AND SOCIAL PROTECTION POLICIES AND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THE PROMOTION OF SHARED RESPONSIBILITY WITHIN THE HOUSEHOLD AND THE FAMILY</a:t>
            </a:r>
            <a:r>
              <a:rPr lang="en-US" sz="2000" u="sng"/>
              <a:t> </a:t>
            </a:r>
            <a:r>
              <a:rPr lang="en-US" sz="2000"/>
              <a:t>AS NATIONALLY APPROPRIATE.</a:t>
            </a:r>
          </a:p>
        </p:txBody>
      </p:sp>
    </p:spTree>
    <p:extLst>
      <p:ext uri="{BB962C8B-B14F-4D97-AF65-F5344CB8AC3E}">
        <p14:creationId xmlns:p14="http://schemas.microsoft.com/office/powerpoint/2010/main" val="3835776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59DF52-5F92-FF2D-CF02-93647EC98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310" y="0"/>
            <a:ext cx="648493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E3EE53-FB54-2395-FBA4-AF2FF73766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>
            <a:off x="443864" y="3850641"/>
            <a:ext cx="4280536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1AE890-0198-42D3-D137-97DB883F0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341310" cy="376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16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D5D18-BBA7-D09D-9727-2810F2E3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74" y="386366"/>
            <a:ext cx="9172892" cy="1280890"/>
          </a:xfrm>
        </p:spPr>
        <p:txBody>
          <a:bodyPr/>
          <a:lstStyle/>
          <a:p>
            <a:r>
              <a:rPr lang="en-IN" b="1">
                <a:solidFill>
                  <a:srgbClr val="0FE1F1"/>
                </a:solidFill>
              </a:rPr>
              <a:t>UN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9211A-EC17-BD00-A2FC-900CD5540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1774" y="1506854"/>
            <a:ext cx="8915400" cy="481012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/>
              <a:t>TARGET 5.5</a:t>
            </a:r>
          </a:p>
          <a:p>
            <a:pPr>
              <a:lnSpc>
                <a:spcPct val="150000"/>
              </a:lnSpc>
            </a:pPr>
            <a:r>
              <a:rPr lang="en-US" sz="2000"/>
              <a:t>ENSURE WOMEN’S FULL AND EFFECTIVE PARTICIPATION AND EQUAL OPPORTUNITIES FOR LEADERSHIP AT ALL LEVELS OF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DECISION-MAKING IN POLITICAL, ECONOMIC AND PUBLIC LIFE</a:t>
            </a:r>
            <a:r>
              <a:rPr lang="en-US" sz="2000"/>
              <a:t>.</a:t>
            </a:r>
          </a:p>
          <a:p>
            <a:pPr>
              <a:lnSpc>
                <a:spcPct val="150000"/>
              </a:lnSpc>
            </a:pPr>
            <a:r>
              <a:rPr lang="en-US" sz="2000"/>
              <a:t>TARGET 5.6</a:t>
            </a:r>
          </a:p>
          <a:p>
            <a:pPr>
              <a:lnSpc>
                <a:spcPct val="150000"/>
              </a:lnSpc>
            </a:pPr>
            <a:r>
              <a:rPr lang="en-US" sz="2000"/>
              <a:t>ENSURE UNIVERSAL ACCESS TO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SEXUAL AND REPRODUCTIVE HEALTH AND REPRODUCTIVE RIGHTS</a:t>
            </a:r>
            <a:r>
              <a:rPr lang="en-US" sz="2000"/>
              <a:t> AS AGREED IN ACCORDANCE WITH THE PROGRAMME OF ACTION OF THE INTERNATIONAL CONFERENCE ON POPULATION AND DEVELOPMENT AND THE BEIJING PLATFORM FOR ACTION AND THE OUTCOME DOCUMENTS OF THEIR REVIEW CONFERENCES</a:t>
            </a:r>
            <a:r>
              <a:rPr lang="en-US"/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7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777A-B0CD-15C0-AF1D-CD634096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452" y="353787"/>
            <a:ext cx="8911687" cy="1280890"/>
          </a:xfrm>
        </p:spPr>
        <p:txBody>
          <a:bodyPr/>
          <a:lstStyle/>
          <a:p>
            <a:r>
              <a:rPr lang="en-US" b="1">
                <a:solidFill>
                  <a:srgbClr val="0FE1F1"/>
                </a:solidFill>
              </a:rPr>
              <a:t>UN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22E27-6F13-898B-7D19-0632DBB54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868" y="1787077"/>
            <a:ext cx="8915400" cy="377762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/>
              <a:t>TARGET 5.7</a:t>
            </a:r>
          </a:p>
          <a:p>
            <a:pPr>
              <a:lnSpc>
                <a:spcPct val="200000"/>
              </a:lnSpc>
            </a:pPr>
            <a:r>
              <a:rPr lang="en-US" sz="2000"/>
              <a:t>UNDERTAKE REFORMS TO GIVE WOMEN EQUAL RIGHTS TO ECONOMIC RESOURCES, AS WELL AS </a:t>
            </a:r>
            <a:r>
              <a:rPr lang="en-US" sz="2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ACCESS TO OWNERSHIP AND CONTROL OVER LAND AND OTHER FORMS OF PROPERTY</a:t>
            </a:r>
            <a:r>
              <a:rPr lang="en-US" sz="2000"/>
              <a:t>, FINANCIAL SERVICES, INHERITANCE AND NATURAL RESOURCES, IN ACCORDANCE WITH NATIONAL LAWS.</a:t>
            </a:r>
          </a:p>
        </p:txBody>
      </p:sp>
    </p:spTree>
    <p:extLst>
      <p:ext uri="{BB962C8B-B14F-4D97-AF65-F5344CB8AC3E}">
        <p14:creationId xmlns:p14="http://schemas.microsoft.com/office/powerpoint/2010/main" val="3811101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84A8AB-FB09-792E-B9C7-03832B8B6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08656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609875-4B11-3498-69FD-1D8CC5992DF6}"/>
              </a:ext>
            </a:extLst>
          </p:cNvPr>
          <p:cNvSpPr txBox="1"/>
          <p:nvPr/>
        </p:nvSpPr>
        <p:spPr>
          <a:xfrm>
            <a:off x="8501036" y="1435854"/>
            <a:ext cx="6487160" cy="92333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4400">
                <a:solidFill>
                  <a:schemeClr val="accent4">
                    <a:alpha val="94000"/>
                  </a:schemeClr>
                </a:solidFill>
              </a:rPr>
              <a:t>   </a:t>
            </a:r>
            <a:r>
              <a:rPr lang="en-IN" sz="4400" b="1">
                <a:solidFill>
                  <a:srgbClr val="0FE1F1">
                    <a:alpha val="94000"/>
                  </a:srgbClr>
                </a:solidFill>
              </a:rPr>
              <a:t>STATISTICS</a:t>
            </a:r>
            <a:r>
              <a:rPr lang="en-IN" sz="5400">
                <a:solidFill>
                  <a:schemeClr val="accent4">
                    <a:alpha val="94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5028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F6AB6A-EC80-EC6A-FACB-D878CD56A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344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AEB363-0028-6890-8AC3-4529BDD64E9C}"/>
              </a:ext>
            </a:extLst>
          </p:cNvPr>
          <p:cNvSpPr txBox="1"/>
          <p:nvPr/>
        </p:nvSpPr>
        <p:spPr>
          <a:xfrm>
            <a:off x="8910320" y="1036320"/>
            <a:ext cx="3281680" cy="76944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400" b="1">
                <a:solidFill>
                  <a:srgbClr val="0FE1F1"/>
                </a:solidFill>
              </a:rPr>
              <a:t> STATISTICS</a:t>
            </a:r>
            <a:endParaRPr lang="en-IN" b="1">
              <a:solidFill>
                <a:srgbClr val="0FE1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453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1C9D-53D5-D1A4-1E94-6C87DFA3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8492" y="564099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IN" sz="3600" b="1">
                <a:solidFill>
                  <a:srgbClr val="0FE1F1"/>
                </a:solidFill>
              </a:rPr>
              <a:t>PROMOTING GENDER EQUALITY:</a:t>
            </a:r>
            <a:r>
              <a:rPr lang="en-IN"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A SHARED RESPONSIBILITY</a:t>
            </a:r>
            <a:br>
              <a:rPr lang="en-IN" sz="360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IN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67F13-9616-7687-F72F-AE0DEE8A4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8492" y="1753549"/>
            <a:ext cx="8915400" cy="377762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b="0" i="0">
              <a:solidFill>
                <a:srgbClr val="FFFFFF"/>
              </a:solidFill>
              <a:effectLst/>
              <a:latin typeface="ProximaNova"/>
            </a:endParaRPr>
          </a:p>
          <a:p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MEN HAVE THE </a:t>
            </a:r>
            <a:r>
              <a:rPr lang="en-US" sz="2400" b="1" i="0">
                <a:solidFill>
                  <a:srgbClr val="0FE1F1"/>
                </a:solidFill>
                <a:effectLst/>
                <a:latin typeface="ProximaNova"/>
              </a:rPr>
              <a:t>RIGHT TO NURTURING ROLES </a:t>
            </a:r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AND SHOULD BE SUPPORTED IN THIS.</a:t>
            </a:r>
          </a:p>
          <a:p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THEY ALSO </a:t>
            </a:r>
            <a:r>
              <a:rPr lang="en-US" sz="2400" b="1" i="0">
                <a:solidFill>
                  <a:srgbClr val="0FE1F1"/>
                </a:solidFill>
                <a:effectLst/>
                <a:latin typeface="ProximaNova"/>
              </a:rPr>
              <a:t>BEAR RESPONSIBILITIES FOR CHILD HEALTH AND SEXUAL/REPRODUCTIVE HEALTH</a:t>
            </a:r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.</a:t>
            </a:r>
          </a:p>
          <a:p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RECOGNIZING MEN’S </a:t>
            </a:r>
            <a:r>
              <a:rPr lang="en-US" sz="2400" b="1" i="0">
                <a:solidFill>
                  <a:srgbClr val="0FE1F1"/>
                </a:solidFill>
                <a:effectLst/>
                <a:latin typeface="ProximaNova"/>
              </a:rPr>
              <a:t>SPECIFIC HEALTH ISSUES IS ESSENTIAL</a:t>
            </a:r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.</a:t>
            </a:r>
          </a:p>
          <a:p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A GENDER PERSPECTIVE REVEALS:</a:t>
            </a:r>
          </a:p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ProximaNova"/>
              </a:rPr>
              <a:t>		</a:t>
            </a:r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1)</a:t>
            </a:r>
            <a:r>
              <a:rPr lang="en-US" sz="2400" b="1" i="0">
                <a:solidFill>
                  <a:srgbClr val="0FE1F1"/>
                </a:solidFill>
                <a:effectLst/>
                <a:latin typeface="ProximaNova"/>
              </a:rPr>
              <a:t>DISADVANTAGES</a:t>
            </a:r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 MEN FACE FROM GENDER NORMS.</a:t>
            </a:r>
          </a:p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ProximaNova"/>
              </a:rPr>
              <a:t>             </a:t>
            </a:r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2)THE IMPORTANCE OF </a:t>
            </a:r>
            <a:r>
              <a:rPr lang="en-US" sz="2400" b="1" i="0">
                <a:solidFill>
                  <a:srgbClr val="0FE1F1"/>
                </a:solidFill>
                <a:effectLst/>
                <a:latin typeface="ProximaNova"/>
              </a:rPr>
              <a:t>ADDRESSING BOTH MEN’S AND WOMEN’S NEEDS</a:t>
            </a:r>
            <a:r>
              <a:rPr lang="en-US" sz="2400" b="0" i="0">
                <a:solidFill>
                  <a:srgbClr val="FFFFFF"/>
                </a:solidFill>
                <a:effectLst/>
                <a:latin typeface="ProximaNova"/>
              </a:rPr>
              <a:t>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950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A033C-031D-F527-E287-7F0B8AD2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8925" y="461550"/>
            <a:ext cx="8911687" cy="1280890"/>
          </a:xfrm>
        </p:spPr>
        <p:txBody>
          <a:bodyPr/>
          <a:lstStyle/>
          <a:p>
            <a:r>
              <a:rPr lang="en-IN" sz="3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PROMOTING GENDER EQUALITY:</a:t>
            </a:r>
            <a:r>
              <a:rPr lang="en-IN" sz="3200" b="1">
                <a:solidFill>
                  <a:srgbClr val="0FE1F1"/>
                </a:solidFill>
              </a:rPr>
              <a:t>A SHARED RESPONSIBILITY</a:t>
            </a:r>
            <a:endParaRPr lang="en-US" b="1">
              <a:solidFill>
                <a:srgbClr val="0FE1F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BD203-6941-4FF1-81DA-FD74E31B9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212" y="1234075"/>
            <a:ext cx="8915400" cy="3777622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endParaRPr lang="en-US">
              <a:ea typeface="+mn-lt"/>
              <a:cs typeface="+mn-lt"/>
            </a:endParaRPr>
          </a:p>
          <a:p>
            <a:endParaRPr lang="en-US" sz="4200">
              <a:ea typeface="+mn-lt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8000">
                <a:ea typeface="+mn-lt"/>
                <a:cs typeface="+mn-lt"/>
              </a:rPr>
              <a:t>MORE WOMEN IN THE LABOR MARKET, BUT </a:t>
            </a:r>
            <a:r>
              <a:rPr lang="en-US" sz="8000" b="1">
                <a:solidFill>
                  <a:schemeClr val="accent1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INEQUALITIES</a:t>
            </a:r>
            <a:r>
              <a:rPr lang="en-US" sz="8000">
                <a:ea typeface="+mn-lt"/>
                <a:cs typeface="+mn-lt"/>
              </a:rPr>
              <a:t> REMAIN.</a:t>
            </a:r>
          </a:p>
          <a:p>
            <a:pPr>
              <a:lnSpc>
                <a:spcPct val="170000"/>
              </a:lnSpc>
            </a:pPr>
            <a:r>
              <a:rPr lang="en-US" sz="8000">
                <a:ea typeface="+mn-lt"/>
                <a:cs typeface="+mn-lt"/>
              </a:rPr>
              <a:t>WOMEN FACE </a:t>
            </a:r>
            <a:r>
              <a:rPr lang="en-US" sz="8000" b="1">
                <a:solidFill>
                  <a:schemeClr val="accent1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DENIED WORK RIGHTS COMPARED TO MEN</a:t>
            </a:r>
            <a:r>
              <a:rPr lang="en-US" sz="8000">
                <a:ea typeface="+mn-lt"/>
                <a:cs typeface="+mn-lt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sz="8000">
                <a:ea typeface="+mn-lt"/>
                <a:cs typeface="+mn-lt"/>
              </a:rPr>
              <a:t>MAJOR BARRIERS: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n-US" sz="8000">
                <a:ea typeface="+mn-lt"/>
                <a:cs typeface="+mn-lt"/>
              </a:rPr>
              <a:t>	1)SEXUAL VIOLENCE AND EXPLOITATION.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n-US" sz="8000">
                <a:ea typeface="+mn-lt"/>
                <a:cs typeface="+mn-lt"/>
              </a:rPr>
              <a:t>	2)</a:t>
            </a:r>
            <a:r>
              <a:rPr lang="en-US" sz="8000" b="1">
                <a:solidFill>
                  <a:schemeClr val="accent1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UNEQUAL</a:t>
            </a:r>
            <a:r>
              <a:rPr lang="en-US" sz="8000">
                <a:ea typeface="+mn-lt"/>
                <a:cs typeface="+mn-lt"/>
              </a:rPr>
              <a:t> UNPAID CARE AND DOMESTIC WORK.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n-US" sz="8000">
                <a:ea typeface="+mn-lt"/>
                <a:cs typeface="+mn-lt"/>
              </a:rPr>
              <a:t>	3)DISCRIMINATION IN PUBLIC OFFICE.</a:t>
            </a:r>
          </a:p>
          <a:p>
            <a:pPr>
              <a:lnSpc>
                <a:spcPct val="170000"/>
              </a:lnSpc>
            </a:pPr>
            <a:r>
              <a:rPr lang="en-US" sz="8000">
                <a:ea typeface="+mn-lt"/>
                <a:cs typeface="+mn-lt"/>
              </a:rPr>
              <a:t>CLIMATE CHANGE AND DISASTERS DISPROPORTIONATELY AFFECT WOMEN AND GIRLS.</a:t>
            </a:r>
            <a:endParaRPr lang="en-US" sz="8000"/>
          </a:p>
        </p:txBody>
      </p:sp>
    </p:spTree>
    <p:extLst>
      <p:ext uri="{BB962C8B-B14F-4D97-AF65-F5344CB8AC3E}">
        <p14:creationId xmlns:p14="http://schemas.microsoft.com/office/powerpoint/2010/main" val="277535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16F07-84A1-79DF-6104-80BF228C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0FE1F1"/>
                </a:solidFill>
              </a:rPr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648EAB-AD4C-4964-E45B-362E7D058C9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223453" y="1575816"/>
            <a:ext cx="8915400" cy="329987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endParaRPr lang="en-US" sz="2400">
              <a:solidFill>
                <a:srgbClr val="E8E8E8"/>
              </a:solidFill>
              <a:latin typeface="Google Sans"/>
            </a:endParaRPr>
          </a:p>
          <a:p>
            <a:pPr>
              <a:lnSpc>
                <a:spcPct val="150000"/>
              </a:lnSpc>
            </a:pPr>
            <a:r>
              <a:rPr lang="en-US" sz="2400" b="0" i="0">
                <a:solidFill>
                  <a:srgbClr val="E8E8E8"/>
                </a:solidFill>
                <a:effectLst/>
                <a:latin typeface="Google Sans"/>
              </a:rPr>
              <a:t>REGARDLESS OF WHERE YOU LIVE IN, GENDER EQUALITY IS A FUNDAMENTAL </a:t>
            </a:r>
            <a:r>
              <a:rPr lang="en-US" sz="24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HUMAN RIGHT</a:t>
            </a:r>
            <a:r>
              <a:rPr lang="en-US" sz="2400" b="0" i="0">
                <a:solidFill>
                  <a:srgbClr val="E8E8E8"/>
                </a:solidFill>
                <a:effectLst/>
                <a:latin typeface="Google Sans"/>
              </a:rPr>
              <a:t>. ADVANCING GENDER EQUALITY IS CRITICAL TO ALL AREAS OF A HEALTHY SOCIETY, FROM REDUCING POVERTY TO PROMOTING THE HEALTH, EDUCATION, PROTECTION AND THE WELL-BEING OF GIRLS AND BOYS.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203738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1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F2CC0B-D5F1-40B8-9CC6-4A36850B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FE1F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75439-C766-134A-A0D0-BE002D8B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Any questions?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1C6CE6-1810-44ED-A6D7-3FF53040A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1F6D8BFE-D0D0-4BAE-9D5A-701DE7D3C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3F86D30-CEDB-4D96-AF73-AA3CD5A43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5187540-C4C8-410C-A395-69FCB1C8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75BD6E4A-797C-451B-B08F-D99C1A9D1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0D241082-BAFA-462E-827B-5814B020F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920CCBD-116D-450B-9608-99F05F7D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A57CD3DE-CEAF-4BD4-A5EF-24B3E622B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EC3258C-366B-4629-A7D3-5173D363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D444D63A-CE2B-4ACD-BA0E-4ADECAD8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7A504DF6-187A-4A54-96E8-3F3F28AAA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FE04C6F5-6DC5-4C7E-9278-9BE624FC7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94A02D9B-E6A9-4D6A-9D2A-D81C76802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8034A6-3565-46AA-9E73-1C954666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4947AA2-A772-42CB-9CEC-065095D3D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83C52D84-DEC1-4E16-972E-8EEA5D52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036A28D-EF09-41F7-906F-CF405361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E8D92C7-C907-4120-95E3-80E3DC85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BBCEAAB8-CD22-41D7-B330-702682A27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BBC1FEE-3D72-492B-8D8A-BE1A5507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C28C6E5C-C393-435C-96A1-AA2859B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2C2C991F-AC51-4DF5-B8DD-19B08C1CB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9C916B5F-285D-4F5A-9085-6781753AF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375DD5F-9D17-4873-B697-3D44A5EBE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A159BBC7-6A8B-4612-94A8-5632345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177C901C-F8DE-4C99-95C8-F8CA1B84F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1D655F2-6D15-4265-ADEE-EF0075C1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Freeform 69">
            <a:extLst>
              <a:ext uri="{FF2B5EF4-FFF2-40B4-BE49-F238E27FC236}">
                <a16:creationId xmlns:a16="http://schemas.microsoft.com/office/drawing/2014/main" id="{3248A930-1A6E-4EFB-8213-D1AC735BE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63739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664C2C-082A-4164-A0C5-E616AB2AD53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26C8EDA9-70CE-4A62-99FE-71B395D1BB0B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142C7EEC-86F6-4CA7-805C-CB656E6A63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Event design</Template>
  <Application>Microsoft Office PowerPoint</Application>
  <PresentationFormat>Widescreen</PresentationFormat>
  <Slides>15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Wisp</vt:lpstr>
      <vt:lpstr>#SDG5 </vt:lpstr>
      <vt:lpstr> “Achieve gender equality and empower all women and girls”</vt:lpstr>
      <vt:lpstr>OVERVIEW</vt:lpstr>
      <vt:lpstr>WHAT IS GENDER EQUALITY?</vt:lpstr>
      <vt:lpstr>UN TARGETS</vt:lpstr>
      <vt:lpstr>UN TARGETS</vt:lpstr>
      <vt:lpstr>PowerPoint Presentation</vt:lpstr>
      <vt:lpstr>UN TARGETS</vt:lpstr>
      <vt:lpstr>UN TARGETS</vt:lpstr>
      <vt:lpstr>PowerPoint Presentation</vt:lpstr>
      <vt:lpstr>PowerPoint Presentation</vt:lpstr>
      <vt:lpstr>PROMOTING GENDER EQUALITY:A SHARED RESPONSIBILITY </vt:lpstr>
      <vt:lpstr>PROMOTING GENDER EQUALITY:A SHARED RESPONSIBILITY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SDG5 </dc:title>
  <dc:creator>Nithillakrishi PY</dc:creator>
  <cp:lastModifiedBy>Nithillakrishi PY</cp:lastModifiedBy>
  <cp:revision>1</cp:revision>
  <dcterms:created xsi:type="dcterms:W3CDTF">2024-10-10T13:24:03Z</dcterms:created>
  <dcterms:modified xsi:type="dcterms:W3CDTF">2024-10-16T11:29:31Z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