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307" y="39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sp>
        <p:nvSpPr>
          <p:cNvPr id="84" name="Google Shape;84;p13"/>
          <p:cNvSpPr/>
          <p:nvPr/>
        </p:nvSpPr>
        <p:spPr>
          <a:xfrm>
            <a:off x="-826451" y="-6523537"/>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a:effectLst>
            <a:outerShdw blurRad="57150" dist="19050" dir="5400000" algn="bl" rotWithShape="0">
              <a:srgbClr val="000000">
                <a:alpha val="50000"/>
              </a:srgbClr>
            </a:outerShdw>
          </a:effectLst>
        </p:spPr>
      </p:sp>
      <p:sp>
        <p:nvSpPr>
          <p:cNvPr id="85" name="Google Shape;85;p13"/>
          <p:cNvSpPr txBox="1"/>
          <p:nvPr/>
        </p:nvSpPr>
        <p:spPr>
          <a:xfrm>
            <a:off x="1028700" y="6290021"/>
            <a:ext cx="37551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a:p>
        </p:txBody>
      </p:sp>
      <p:sp>
        <p:nvSpPr>
          <p:cNvPr id="86" name="Google Shape;86;p13"/>
          <p:cNvSpPr txBox="1"/>
          <p:nvPr/>
        </p:nvSpPr>
        <p:spPr>
          <a:xfrm>
            <a:off x="7450310" y="4057375"/>
            <a:ext cx="3755099" cy="1507913"/>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dirty="0">
                <a:solidFill>
                  <a:srgbClr val="FFFFFF"/>
                </a:solidFill>
              </a:rPr>
              <a:t>Slider AI </a:t>
            </a:r>
            <a:endParaRPr dirty="0"/>
          </a:p>
        </p:txBody>
      </p:sp>
      <p:sp>
        <p:nvSpPr>
          <p:cNvPr id="87" name="Google Shape;87;p13"/>
          <p:cNvSpPr txBox="1"/>
          <p:nvPr/>
        </p:nvSpPr>
        <p:spPr>
          <a:xfrm>
            <a:off x="1028700" y="7466709"/>
            <a:ext cx="5620294" cy="11181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dirty="0">
                <a:solidFill>
                  <a:srgbClr val="FFFFFF"/>
                </a:solidFill>
              </a:rPr>
              <a:t>Code Blooded</a:t>
            </a:r>
            <a:endParaRPr dirty="0"/>
          </a:p>
        </p:txBody>
      </p:sp>
      <p:pic>
        <p:nvPicPr>
          <p:cNvPr id="88" name="Google Shape;88;p13" title="Microsoft Innovations Club (3) (2).png"/>
          <p:cNvPicPr preferRelativeResize="0"/>
          <p:nvPr/>
        </p:nvPicPr>
        <p:blipFill>
          <a:blip r:embed="rId4">
            <a:alphaModFix/>
          </a:blip>
          <a:stretch>
            <a:fillRect/>
          </a:stretch>
        </p:blipFill>
        <p:spPr>
          <a:xfrm>
            <a:off x="801950" y="-1915850"/>
            <a:ext cx="16676352" cy="83381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
        <p:cNvGrpSpPr/>
        <p:nvPr/>
      </p:nvGrpSpPr>
      <p:grpSpPr>
        <a:xfrm>
          <a:off x="0" y="0"/>
          <a:ext cx="0" cy="0"/>
          <a:chOff x="0" y="0"/>
          <a:chExt cx="0" cy="0"/>
        </a:xfrm>
      </p:grpSpPr>
      <p:sp>
        <p:nvSpPr>
          <p:cNvPr id="93" name="Google Shape;93;p14"/>
          <p:cNvSpPr/>
          <p:nvPr/>
        </p:nvSpPr>
        <p:spPr>
          <a:xfrm>
            <a:off x="-914401" y="-70485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94" name="Google Shape;94;p14"/>
          <p:cNvSpPr txBox="1"/>
          <p:nvPr/>
        </p:nvSpPr>
        <p:spPr>
          <a:xfrm>
            <a:off x="-5092499" y="1063776"/>
            <a:ext cx="16395900" cy="877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i="0" u="none" strike="noStrike" cap="none">
                <a:solidFill>
                  <a:srgbClr val="FFFFFF"/>
                </a:solidFill>
                <a:latin typeface="Arial"/>
                <a:ea typeface="Arial"/>
                <a:cs typeface="Arial"/>
                <a:sym typeface="Arial"/>
              </a:rPr>
              <a:t>Team Details</a:t>
            </a:r>
            <a:endParaRPr/>
          </a:p>
        </p:txBody>
      </p:sp>
      <p:sp>
        <p:nvSpPr>
          <p:cNvPr id="95" name="Google Shape;95;p14"/>
          <p:cNvSpPr txBox="1"/>
          <p:nvPr/>
        </p:nvSpPr>
        <p:spPr>
          <a:xfrm>
            <a:off x="1028699" y="2638781"/>
            <a:ext cx="6392704" cy="2068259"/>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Team Head</a:t>
            </a:r>
            <a:r>
              <a:rPr lang="en-US" sz="2400" dirty="0">
                <a:solidFill>
                  <a:srgbClr val="FFFFFF"/>
                </a:solidFill>
              </a:rPr>
              <a:t>: Sri Hari S</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Email: harigallery9@gmail.com</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Phone: 7904638485</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University / College: IIITDM Kancheepuram</a:t>
            </a:r>
            <a:endParaRPr dirty="0"/>
          </a:p>
        </p:txBody>
      </p:sp>
      <p:sp>
        <p:nvSpPr>
          <p:cNvPr id="96" name="Google Shape;96;p14"/>
          <p:cNvSpPr txBox="1"/>
          <p:nvPr/>
        </p:nvSpPr>
        <p:spPr>
          <a:xfrm>
            <a:off x="1028699" y="6154468"/>
            <a:ext cx="5972992" cy="2068259"/>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Member 1: Pranav M</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Email: pranavmano141@gmail.com</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Phone: 9025429031</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University / College: IIITDM Kancheepuram</a:t>
            </a:r>
            <a:endParaRPr dirty="0"/>
          </a:p>
        </p:txBody>
      </p:sp>
      <p:sp>
        <p:nvSpPr>
          <p:cNvPr id="97" name="Google Shape;97;p14"/>
          <p:cNvSpPr txBox="1"/>
          <p:nvPr/>
        </p:nvSpPr>
        <p:spPr>
          <a:xfrm>
            <a:off x="7421402" y="6154468"/>
            <a:ext cx="5972992" cy="2068259"/>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Member 2: </a:t>
            </a:r>
            <a:r>
              <a:rPr lang="en-US" sz="2400" b="0" i="0" u="none" strike="noStrike" cap="none" dirty="0" err="1">
                <a:solidFill>
                  <a:srgbClr val="FFFFFF"/>
                </a:solidFill>
                <a:latin typeface="Arial"/>
                <a:ea typeface="Arial"/>
                <a:cs typeface="Arial"/>
                <a:sym typeface="Arial"/>
              </a:rPr>
              <a:t>Nithillakrishi</a:t>
            </a:r>
            <a:r>
              <a:rPr lang="en-US" sz="2400" b="0" i="0" u="none" strike="noStrike" cap="none" dirty="0">
                <a:solidFill>
                  <a:srgbClr val="FFFFFF"/>
                </a:solidFill>
                <a:latin typeface="Arial"/>
                <a:ea typeface="Arial"/>
                <a:cs typeface="Arial"/>
                <a:sym typeface="Arial"/>
              </a:rPr>
              <a:t> PY</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Email: subunithillakrishi@gmail.com</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Phone: 9360603978</a:t>
            </a:r>
            <a:endParaRPr dirty="0"/>
          </a:p>
          <a:p>
            <a:pPr marL="0" marR="0" lvl="0" indent="0" algn="l" rtl="0">
              <a:lnSpc>
                <a:spcPct val="139958"/>
              </a:lnSpc>
              <a:spcBef>
                <a:spcPts val="0"/>
              </a:spcBef>
              <a:spcAft>
                <a:spcPts val="0"/>
              </a:spcAft>
              <a:buNone/>
            </a:pPr>
            <a:r>
              <a:rPr lang="en-US" sz="2400" b="0" i="0" u="none" strike="noStrike" cap="none" dirty="0">
                <a:solidFill>
                  <a:srgbClr val="FFFFFF"/>
                </a:solidFill>
                <a:latin typeface="Arial"/>
                <a:ea typeface="Arial"/>
                <a:cs typeface="Arial"/>
                <a:sym typeface="Arial"/>
              </a:rPr>
              <a:t>University / College: IIITDM Kancheepuram</a:t>
            </a:r>
            <a:endParaRPr dirty="0"/>
          </a:p>
        </p:txBody>
      </p:sp>
      <p:pic>
        <p:nvPicPr>
          <p:cNvPr id="99" name="Google Shape;99;p14" title="Microsoft Innovations Club (3) (2).png"/>
          <p:cNvPicPr preferRelativeResize="0"/>
          <p:nvPr/>
        </p:nvPicPr>
        <p:blipFill>
          <a:blip r:embed="rId4">
            <a:alphaModFix/>
          </a:blip>
          <a:stretch>
            <a:fillRect/>
          </a:stretch>
        </p:blipFill>
        <p:spPr>
          <a:xfrm>
            <a:off x="8902675" y="-930650"/>
            <a:ext cx="9302252" cy="4651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3"/>
        <p:cNvGrpSpPr/>
        <p:nvPr/>
      </p:nvGrpSpPr>
      <p:grpSpPr>
        <a:xfrm>
          <a:off x="0" y="0"/>
          <a:ext cx="0" cy="0"/>
          <a:chOff x="0" y="0"/>
          <a:chExt cx="0" cy="0"/>
        </a:xfrm>
      </p:grpSpPr>
      <p:sp>
        <p:nvSpPr>
          <p:cNvPr id="104" name="Google Shape;104;p15"/>
          <p:cNvSpPr/>
          <p:nvPr/>
        </p:nvSpPr>
        <p:spPr>
          <a:xfrm>
            <a:off x="-1028701" y="-59049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105" name="Google Shape;105;p15"/>
          <p:cNvSpPr txBox="1"/>
          <p:nvPr/>
        </p:nvSpPr>
        <p:spPr>
          <a:xfrm>
            <a:off x="930511" y="2616314"/>
            <a:ext cx="6357119" cy="87781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i="0" u="none" strike="noStrike" cap="none" dirty="0">
                <a:solidFill>
                  <a:srgbClr val="FFFFFF"/>
                </a:solidFill>
                <a:latin typeface="Arial"/>
                <a:ea typeface="Arial"/>
                <a:cs typeface="Arial"/>
                <a:sym typeface="Arial"/>
              </a:rPr>
              <a:t>Problem Statement</a:t>
            </a:r>
            <a:endParaRPr dirty="0"/>
          </a:p>
        </p:txBody>
      </p:sp>
      <p:pic>
        <p:nvPicPr>
          <p:cNvPr id="106" name="Google Shape;106;p15" title="Microsoft Innovations Club (3) (2).png"/>
          <p:cNvPicPr preferRelativeResize="0"/>
          <p:nvPr/>
        </p:nvPicPr>
        <p:blipFill>
          <a:blip r:embed="rId4">
            <a:alphaModFix/>
          </a:blip>
          <a:stretch>
            <a:fillRect/>
          </a:stretch>
        </p:blipFill>
        <p:spPr>
          <a:xfrm>
            <a:off x="6117600" y="-144175"/>
            <a:ext cx="6052803" cy="3026401"/>
          </a:xfrm>
          <a:prstGeom prst="rect">
            <a:avLst/>
          </a:prstGeom>
          <a:noFill/>
          <a:ln>
            <a:noFill/>
          </a:ln>
        </p:spPr>
      </p:pic>
      <p:sp>
        <p:nvSpPr>
          <p:cNvPr id="2" name="TextBox 1">
            <a:extLst>
              <a:ext uri="{FF2B5EF4-FFF2-40B4-BE49-F238E27FC236}">
                <a16:creationId xmlns:a16="http://schemas.microsoft.com/office/drawing/2014/main" id="{0931D85E-271E-8EC4-F1B6-667ECD659108}"/>
              </a:ext>
            </a:extLst>
          </p:cNvPr>
          <p:cNvSpPr txBox="1"/>
          <p:nvPr/>
        </p:nvSpPr>
        <p:spPr>
          <a:xfrm>
            <a:off x="930510" y="3984171"/>
            <a:ext cx="14771043" cy="4401205"/>
          </a:xfrm>
          <a:prstGeom prst="rect">
            <a:avLst/>
          </a:prstGeom>
          <a:noFill/>
        </p:spPr>
        <p:txBody>
          <a:bodyPr wrap="square" rtlCol="0">
            <a:spAutoFit/>
          </a:bodyPr>
          <a:lstStyle/>
          <a:p>
            <a:r>
              <a:rPr lang="en-US" sz="2800" dirty="0">
                <a:solidFill>
                  <a:schemeClr val="bg1"/>
                </a:solidFill>
              </a:rPr>
              <a:t>Creating impactful presentations is time-consuming and cognitively demanding. Students, educators, and professionals spend hours formatting slides, structuring content, and preparing accompanying quizzes or summaries for engagement. Existing tools only automate parts of the process like slide design or grammar but none deliver a complete, AI-assisted presentation lifecycle:</a:t>
            </a:r>
          </a:p>
          <a:p>
            <a:endParaRPr lang="en-US" sz="2800" dirty="0">
              <a:solidFill>
                <a:schemeClr val="bg1"/>
              </a:solidFill>
            </a:endParaRPr>
          </a:p>
          <a:p>
            <a:pPr marL="457200" indent="-457200">
              <a:buClr>
                <a:schemeClr val="bg1"/>
              </a:buClr>
              <a:buFont typeface="Wingdings" panose="05000000000000000000" pitchFamily="2" charset="2"/>
              <a:buChar char="q"/>
            </a:pPr>
            <a:r>
              <a:rPr lang="en-US" sz="2800" b="1" dirty="0">
                <a:solidFill>
                  <a:schemeClr val="bg1"/>
                </a:solidFill>
              </a:rPr>
              <a:t>Generate</a:t>
            </a:r>
            <a:r>
              <a:rPr lang="en-US" sz="2800" dirty="0">
                <a:solidFill>
                  <a:schemeClr val="bg1"/>
                </a:solidFill>
              </a:rPr>
              <a:t> slides from a topic or document,</a:t>
            </a:r>
          </a:p>
          <a:p>
            <a:pPr marL="457200" indent="-457200">
              <a:buClr>
                <a:schemeClr val="bg1"/>
              </a:buClr>
              <a:buFont typeface="Wingdings" panose="05000000000000000000" pitchFamily="2" charset="2"/>
              <a:buChar char="q"/>
            </a:pPr>
            <a:r>
              <a:rPr lang="en-US" sz="2800" b="1" dirty="0">
                <a:solidFill>
                  <a:schemeClr val="bg1"/>
                </a:solidFill>
              </a:rPr>
              <a:t>Analyze</a:t>
            </a:r>
            <a:r>
              <a:rPr lang="en-US" sz="2800" dirty="0">
                <a:solidFill>
                  <a:schemeClr val="bg1"/>
                </a:solidFill>
              </a:rPr>
              <a:t> their clarity and tone,</a:t>
            </a:r>
          </a:p>
          <a:p>
            <a:pPr marL="457200" indent="-457200">
              <a:buClr>
                <a:schemeClr val="bg1"/>
              </a:buClr>
              <a:buFont typeface="Wingdings" panose="05000000000000000000" pitchFamily="2" charset="2"/>
              <a:buChar char="q"/>
            </a:pPr>
            <a:r>
              <a:rPr lang="en-US" sz="2800" b="1" dirty="0">
                <a:solidFill>
                  <a:schemeClr val="bg1"/>
                </a:solidFill>
              </a:rPr>
              <a:t>Improve</a:t>
            </a:r>
            <a:r>
              <a:rPr lang="en-US" sz="2800" dirty="0">
                <a:solidFill>
                  <a:schemeClr val="bg1"/>
                </a:solidFill>
              </a:rPr>
              <a:t> them with AI suggestions, and</a:t>
            </a:r>
          </a:p>
          <a:p>
            <a:pPr marL="457200" indent="-457200">
              <a:buClr>
                <a:schemeClr val="bg1"/>
              </a:buClr>
              <a:buFont typeface="Wingdings" panose="05000000000000000000" pitchFamily="2" charset="2"/>
              <a:buChar char="q"/>
            </a:pPr>
            <a:r>
              <a:rPr lang="en-US" sz="2800" b="1" dirty="0">
                <a:solidFill>
                  <a:schemeClr val="bg1"/>
                </a:solidFill>
              </a:rPr>
              <a:t>Quiz</a:t>
            </a:r>
            <a:r>
              <a:rPr lang="en-US" sz="2800" dirty="0">
                <a:solidFill>
                  <a:schemeClr val="bg1"/>
                </a:solidFill>
              </a:rPr>
              <a:t> the audience using extracted key points.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0"/>
        <p:cNvGrpSpPr/>
        <p:nvPr/>
      </p:nvGrpSpPr>
      <p:grpSpPr>
        <a:xfrm>
          <a:off x="0" y="0"/>
          <a:ext cx="0" cy="0"/>
          <a:chOff x="0" y="0"/>
          <a:chExt cx="0" cy="0"/>
        </a:xfrm>
      </p:grpSpPr>
      <p:sp>
        <p:nvSpPr>
          <p:cNvPr id="111" name="Google Shape;111;p16"/>
          <p:cNvSpPr/>
          <p:nvPr/>
        </p:nvSpPr>
        <p:spPr>
          <a:xfrm>
            <a:off x="-1028701" y="-5629221"/>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112" name="Google Shape;112;p16"/>
          <p:cNvSpPr txBox="1"/>
          <p:nvPr/>
        </p:nvSpPr>
        <p:spPr>
          <a:xfrm>
            <a:off x="1863886" y="2616314"/>
            <a:ext cx="4490400" cy="11181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dirty="0">
                <a:solidFill>
                  <a:srgbClr val="FFFFFF"/>
                </a:solidFill>
              </a:rPr>
              <a:t>Opportunities</a:t>
            </a:r>
          </a:p>
        </p:txBody>
      </p:sp>
      <p:pic>
        <p:nvPicPr>
          <p:cNvPr id="113" name="Google Shape;113;p16" title="Microsoft Innovations Club (3) (2).png"/>
          <p:cNvPicPr preferRelativeResize="0"/>
          <p:nvPr/>
        </p:nvPicPr>
        <p:blipFill>
          <a:blip r:embed="rId4">
            <a:alphaModFix/>
          </a:blip>
          <a:stretch>
            <a:fillRect/>
          </a:stretch>
        </p:blipFill>
        <p:spPr>
          <a:xfrm>
            <a:off x="6117600" y="-144175"/>
            <a:ext cx="6052803" cy="3026401"/>
          </a:xfrm>
          <a:prstGeom prst="rect">
            <a:avLst/>
          </a:prstGeom>
          <a:noFill/>
          <a:ln>
            <a:noFill/>
          </a:ln>
        </p:spPr>
      </p:pic>
      <p:sp>
        <p:nvSpPr>
          <p:cNvPr id="14" name="TextBox 13">
            <a:extLst>
              <a:ext uri="{FF2B5EF4-FFF2-40B4-BE49-F238E27FC236}">
                <a16:creationId xmlns:a16="http://schemas.microsoft.com/office/drawing/2014/main" id="{46BDED43-A19F-492B-6A12-7F9D402D3CD6}"/>
              </a:ext>
            </a:extLst>
          </p:cNvPr>
          <p:cNvSpPr txBox="1"/>
          <p:nvPr/>
        </p:nvSpPr>
        <p:spPr>
          <a:xfrm>
            <a:off x="1863887" y="4095476"/>
            <a:ext cx="11825988" cy="5262979"/>
          </a:xfrm>
          <a:prstGeom prst="rect">
            <a:avLst/>
          </a:prstGeom>
          <a:noFill/>
        </p:spPr>
        <p:txBody>
          <a:bodyPr wrap="square" rtlCol="0">
            <a:spAutoFit/>
          </a:bodyPr>
          <a:lstStyle/>
          <a:p>
            <a:r>
              <a:rPr lang="en-IN" sz="2800" dirty="0">
                <a:solidFill>
                  <a:schemeClr val="bg1"/>
                </a:solidFill>
              </a:rPr>
              <a:t>There is a significant potential and opportunity in this domain such as:</a:t>
            </a:r>
          </a:p>
          <a:p>
            <a:pPr marL="457200" indent="-457200">
              <a:buClr>
                <a:schemeClr val="bg1"/>
              </a:buClr>
              <a:buFont typeface="Wingdings" panose="05000000000000000000" pitchFamily="2" charset="2"/>
              <a:buChar char="q"/>
            </a:pPr>
            <a:r>
              <a:rPr lang="en-US" sz="2800" b="1" dirty="0">
                <a:solidFill>
                  <a:schemeClr val="bg1"/>
                </a:solidFill>
              </a:rPr>
              <a:t>High Time Cost:</a:t>
            </a:r>
            <a:r>
              <a:rPr lang="en-US" sz="2800" dirty="0">
                <a:solidFill>
                  <a:schemeClr val="bg1"/>
                </a:solidFill>
              </a:rPr>
              <a:t> 65% of professionals spend over 3 hours crafting a single presentation.</a:t>
            </a:r>
          </a:p>
          <a:p>
            <a:pPr marL="457200" indent="-457200">
              <a:buClr>
                <a:schemeClr val="bg1"/>
              </a:buClr>
              <a:buFont typeface="Wingdings" panose="05000000000000000000" pitchFamily="2" charset="2"/>
              <a:buChar char="q"/>
            </a:pPr>
            <a:r>
              <a:rPr lang="en-US" sz="2800" b="1" dirty="0">
                <a:solidFill>
                  <a:schemeClr val="bg1"/>
                </a:solidFill>
              </a:rPr>
              <a:t>Growing AI Adoption:</a:t>
            </a:r>
            <a:r>
              <a:rPr lang="en-US" sz="2800" dirty="0">
                <a:solidFill>
                  <a:schemeClr val="bg1"/>
                </a:solidFill>
              </a:rPr>
              <a:t> Organizations increasingly seek GenAI productivity tools.</a:t>
            </a:r>
          </a:p>
          <a:p>
            <a:pPr marL="457200" indent="-457200">
              <a:buClr>
                <a:schemeClr val="bg1"/>
              </a:buClr>
              <a:buFont typeface="Wingdings" panose="05000000000000000000" pitchFamily="2" charset="2"/>
              <a:buChar char="q"/>
            </a:pPr>
            <a:r>
              <a:rPr lang="en-US" sz="2800" b="1" dirty="0">
                <a:solidFill>
                  <a:schemeClr val="bg1"/>
                </a:solidFill>
              </a:rPr>
              <a:t>Learning Engagement Gap:</a:t>
            </a:r>
            <a:r>
              <a:rPr lang="en-US" sz="2800" dirty="0">
                <a:solidFill>
                  <a:schemeClr val="bg1"/>
                </a:solidFill>
              </a:rPr>
              <a:t> Lack of interactivity in presentations leads to reduced audience retention.</a:t>
            </a:r>
          </a:p>
          <a:p>
            <a:pPr marL="457200" indent="-457200">
              <a:buClr>
                <a:schemeClr val="bg1"/>
              </a:buClr>
              <a:buFont typeface="Wingdings" panose="05000000000000000000" pitchFamily="2" charset="2"/>
              <a:buChar char="q"/>
            </a:pPr>
            <a:r>
              <a:rPr lang="en-US" sz="2800" b="1" dirty="0">
                <a:solidFill>
                  <a:schemeClr val="bg1"/>
                </a:solidFill>
              </a:rPr>
              <a:t>Untapped EdTech + SaaS :</a:t>
            </a:r>
            <a:r>
              <a:rPr lang="en-US" sz="2800" dirty="0">
                <a:solidFill>
                  <a:schemeClr val="bg1"/>
                </a:solidFill>
              </a:rPr>
              <a:t> No unified system combines </a:t>
            </a:r>
            <a:r>
              <a:rPr lang="en-US" sz="2800" i="1" dirty="0">
                <a:solidFill>
                  <a:schemeClr val="bg1"/>
                </a:solidFill>
              </a:rPr>
              <a:t>generation + improvement + quizzing</a:t>
            </a:r>
            <a:r>
              <a:rPr lang="en-US" sz="2800" dirty="0">
                <a:solidFill>
                  <a:schemeClr val="bg1"/>
                </a:solidFill>
              </a:rPr>
              <a:t>.</a:t>
            </a:r>
          </a:p>
          <a:p>
            <a:pPr marL="457200" indent="-457200">
              <a:buClr>
                <a:schemeClr val="bg1"/>
              </a:buClr>
              <a:buFont typeface="Wingdings" panose="05000000000000000000" pitchFamily="2" charset="2"/>
              <a:buChar char="q"/>
            </a:pPr>
            <a:r>
              <a:rPr lang="en-US" sz="2800" b="1" dirty="0">
                <a:solidFill>
                  <a:schemeClr val="bg1"/>
                </a:solidFill>
              </a:rPr>
              <a:t>Scalable Market:</a:t>
            </a:r>
            <a:r>
              <a:rPr lang="en-US" sz="2800" dirty="0">
                <a:solidFill>
                  <a:schemeClr val="bg1"/>
                </a:solidFill>
              </a:rPr>
              <a:t> Universities, startups, corporates, and freelancers all rely on slides daily.</a:t>
            </a:r>
          </a:p>
          <a:p>
            <a:endParaRPr lang="en-IN" sz="28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7"/>
        <p:cNvGrpSpPr/>
        <p:nvPr/>
      </p:nvGrpSpPr>
      <p:grpSpPr>
        <a:xfrm>
          <a:off x="0" y="0"/>
          <a:ext cx="0" cy="0"/>
          <a:chOff x="0" y="0"/>
          <a:chExt cx="0" cy="0"/>
        </a:xfrm>
      </p:grpSpPr>
      <p:sp>
        <p:nvSpPr>
          <p:cNvPr id="118" name="Google Shape;118;p17"/>
          <p:cNvSpPr/>
          <p:nvPr/>
        </p:nvSpPr>
        <p:spPr>
          <a:xfrm>
            <a:off x="-1028701" y="-59049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txBody>
          <a:bodyPr/>
          <a:lstStyle/>
          <a:p>
            <a:endParaRPr lang="en-IN" dirty="0"/>
          </a:p>
        </p:txBody>
      </p:sp>
      <p:sp>
        <p:nvSpPr>
          <p:cNvPr id="119" name="Google Shape;119;p17"/>
          <p:cNvSpPr txBox="1"/>
          <p:nvPr/>
        </p:nvSpPr>
        <p:spPr>
          <a:xfrm>
            <a:off x="721221" y="2616314"/>
            <a:ext cx="6775698" cy="87781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i="0" u="none" strike="noStrike" cap="none" dirty="0">
                <a:solidFill>
                  <a:srgbClr val="FFFFFF"/>
                </a:solidFill>
                <a:latin typeface="Arial"/>
                <a:ea typeface="Arial"/>
                <a:cs typeface="Arial"/>
                <a:sym typeface="Arial"/>
              </a:rPr>
              <a:t>Methods / Approach</a:t>
            </a:r>
            <a:endParaRPr dirty="0"/>
          </a:p>
        </p:txBody>
      </p:sp>
      <p:pic>
        <p:nvPicPr>
          <p:cNvPr id="120" name="Google Shape;120;p17" title="Microsoft Innovations Club (3) (2).png"/>
          <p:cNvPicPr preferRelativeResize="0"/>
          <p:nvPr/>
        </p:nvPicPr>
        <p:blipFill>
          <a:blip r:embed="rId4">
            <a:alphaModFix/>
          </a:blip>
          <a:stretch>
            <a:fillRect/>
          </a:stretch>
        </p:blipFill>
        <p:spPr>
          <a:xfrm>
            <a:off x="6117600" y="-144175"/>
            <a:ext cx="6052803" cy="3026401"/>
          </a:xfrm>
          <a:prstGeom prst="rect">
            <a:avLst/>
          </a:prstGeom>
          <a:noFill/>
          <a:ln>
            <a:noFill/>
          </a:ln>
        </p:spPr>
      </p:pic>
      <p:sp>
        <p:nvSpPr>
          <p:cNvPr id="35" name="Rectangle 33">
            <a:extLst>
              <a:ext uri="{FF2B5EF4-FFF2-40B4-BE49-F238E27FC236}">
                <a16:creationId xmlns:a16="http://schemas.microsoft.com/office/drawing/2014/main" id="{EE72CE79-EBE7-1B29-425E-29DAA0A26E5A}"/>
              </a:ext>
            </a:extLst>
          </p:cNvPr>
          <p:cNvSpPr>
            <a:spLocks noChangeArrowheads="1"/>
          </p:cNvSpPr>
          <p:nvPr/>
        </p:nvSpPr>
        <p:spPr bwMode="auto">
          <a:xfrm>
            <a:off x="868679" y="3683788"/>
            <a:ext cx="16698099"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Input Stage:</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User enters a topic, document, or rough draft text.</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System extracts key sections and structures logical flow using LLM summarization.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Slide Generation:</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AI auto-generates slides (titles, bullet points, visuals) using OpenAI or Gemini.</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Layout and design handled via a Python-based PPT library (like python-pptx</a:t>
            </a:r>
            <a:r>
              <a:rPr kumimoji="0" lang="en-US" altLang="en-US" sz="1800" b="0" i="0" u="none" strike="noStrike" cap="none" normalizeH="0" baseline="0" dirty="0">
                <a:ln>
                  <a:noFill/>
                </a:ln>
                <a:solidFill>
                  <a:schemeClr val="bg1"/>
                </a:solidFill>
                <a:effectLst/>
              </a:rPr>
              <a: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AI Analyzer:</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Uses LLM to critique each slide on clarity, conciseness, visual balance, and tone.</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Provides feedback like Grammarly but for presentations.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Improver:</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One-click “Enhance” feature automatically refines slide content and language.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bg1"/>
                </a:solidFill>
                <a:effectLst/>
                <a:latin typeface="Arial" panose="020B0604020202020204" pitchFamily="34" charset="0"/>
              </a:rPr>
              <a:t>Quiz Generator:</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Extracts key points and creates a short quiz using GPT to test audience understanding.</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bg1"/>
                </a:solidFill>
                <a:effectLst/>
                <a:latin typeface="Arial" panose="020B0604020202020204" pitchFamily="34" charset="0"/>
              </a:rPr>
              <a:t>Quizzes can be exported or embedded as interactive components.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4"/>
        <p:cNvGrpSpPr/>
        <p:nvPr/>
      </p:nvGrpSpPr>
      <p:grpSpPr>
        <a:xfrm>
          <a:off x="0" y="0"/>
          <a:ext cx="0" cy="0"/>
          <a:chOff x="0" y="0"/>
          <a:chExt cx="0" cy="0"/>
        </a:xfrm>
      </p:grpSpPr>
      <p:sp>
        <p:nvSpPr>
          <p:cNvPr id="125" name="Google Shape;125;p18"/>
          <p:cNvSpPr/>
          <p:nvPr/>
        </p:nvSpPr>
        <p:spPr>
          <a:xfrm>
            <a:off x="-1028701" y="-59049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126" name="Google Shape;126;p18"/>
          <p:cNvSpPr txBox="1"/>
          <p:nvPr/>
        </p:nvSpPr>
        <p:spPr>
          <a:xfrm>
            <a:off x="863428" y="2616314"/>
            <a:ext cx="10688234" cy="87781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i="0" u="none" strike="noStrike" cap="none">
                <a:solidFill>
                  <a:srgbClr val="FFFFFF"/>
                </a:solidFill>
                <a:latin typeface="Arial"/>
                <a:ea typeface="Arial"/>
                <a:cs typeface="Arial"/>
                <a:sym typeface="Arial"/>
              </a:rPr>
              <a:t>Technology Stack [ Tech Stack ]</a:t>
            </a:r>
            <a:endParaRPr/>
          </a:p>
        </p:txBody>
      </p:sp>
      <p:pic>
        <p:nvPicPr>
          <p:cNvPr id="127" name="Google Shape;127;p18" title="Microsoft Innovations Club (3) (2).png"/>
          <p:cNvPicPr preferRelativeResize="0"/>
          <p:nvPr/>
        </p:nvPicPr>
        <p:blipFill>
          <a:blip r:embed="rId4">
            <a:alphaModFix/>
          </a:blip>
          <a:stretch>
            <a:fillRect/>
          </a:stretch>
        </p:blipFill>
        <p:spPr>
          <a:xfrm>
            <a:off x="6117600" y="-144175"/>
            <a:ext cx="6052803" cy="3026401"/>
          </a:xfrm>
          <a:prstGeom prst="rect">
            <a:avLst/>
          </a:prstGeom>
          <a:noFill/>
          <a:ln>
            <a:noFill/>
          </a:ln>
        </p:spPr>
      </p:pic>
      <p:sp>
        <p:nvSpPr>
          <p:cNvPr id="2" name="TextBox 1">
            <a:extLst>
              <a:ext uri="{FF2B5EF4-FFF2-40B4-BE49-F238E27FC236}">
                <a16:creationId xmlns:a16="http://schemas.microsoft.com/office/drawing/2014/main" id="{FFABE0E0-BC6D-5B1D-910A-3A888D2FF3A8}"/>
              </a:ext>
            </a:extLst>
          </p:cNvPr>
          <p:cNvSpPr txBox="1"/>
          <p:nvPr/>
        </p:nvSpPr>
        <p:spPr>
          <a:xfrm>
            <a:off x="1094524" y="4434840"/>
            <a:ext cx="10884115" cy="5078313"/>
          </a:xfrm>
          <a:prstGeom prst="rect">
            <a:avLst/>
          </a:prstGeom>
          <a:noFill/>
        </p:spPr>
        <p:txBody>
          <a:bodyPr wrap="square" rtlCol="0">
            <a:spAutoFit/>
          </a:bodyPr>
          <a:lstStyle/>
          <a:p>
            <a:pPr marL="571500" indent="-571500">
              <a:buClr>
                <a:schemeClr val="bg1"/>
              </a:buClr>
              <a:buFont typeface="Wingdings" panose="05000000000000000000" pitchFamily="2" charset="2"/>
              <a:buChar char="q"/>
            </a:pPr>
            <a:r>
              <a:rPr lang="en-IN" sz="3600" b="1" dirty="0">
                <a:solidFill>
                  <a:schemeClr val="bg1"/>
                </a:solidFill>
              </a:rPr>
              <a:t>Frontend:</a:t>
            </a:r>
            <a:r>
              <a:rPr lang="en-IN" sz="3600" dirty="0">
                <a:solidFill>
                  <a:schemeClr val="bg1"/>
                </a:solidFill>
              </a:rPr>
              <a:t> Next.js, Tailwind CSS, </a:t>
            </a:r>
            <a:r>
              <a:rPr lang="en-IN" sz="3600" dirty="0" err="1">
                <a:solidFill>
                  <a:schemeClr val="bg1"/>
                </a:solidFill>
              </a:rPr>
              <a:t>shadcn</a:t>
            </a:r>
            <a:r>
              <a:rPr lang="en-IN" sz="3600" dirty="0">
                <a:solidFill>
                  <a:schemeClr val="bg1"/>
                </a:solidFill>
              </a:rPr>
              <a:t>/</a:t>
            </a:r>
            <a:r>
              <a:rPr lang="en-IN" sz="3600" dirty="0" err="1">
                <a:solidFill>
                  <a:schemeClr val="bg1"/>
                </a:solidFill>
              </a:rPr>
              <a:t>ui</a:t>
            </a:r>
            <a:endParaRPr lang="en-IN" sz="3600" dirty="0">
              <a:solidFill>
                <a:schemeClr val="bg1"/>
              </a:solidFill>
            </a:endParaRP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Backend:</a:t>
            </a:r>
            <a:r>
              <a:rPr lang="en-IN" sz="3600" dirty="0">
                <a:solidFill>
                  <a:schemeClr val="bg1"/>
                </a:solidFill>
              </a:rPr>
              <a:t> </a:t>
            </a:r>
            <a:r>
              <a:rPr lang="en-IN" sz="3600" dirty="0" err="1">
                <a:solidFill>
                  <a:schemeClr val="bg1"/>
                </a:solidFill>
              </a:rPr>
              <a:t>FastAPI</a:t>
            </a:r>
            <a:endParaRPr lang="en-IN" sz="3600" dirty="0">
              <a:solidFill>
                <a:schemeClr val="bg1"/>
              </a:solidFill>
            </a:endParaRP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LLM / AI:</a:t>
            </a:r>
            <a:r>
              <a:rPr lang="en-IN" sz="3600" dirty="0">
                <a:solidFill>
                  <a:schemeClr val="bg1"/>
                </a:solidFill>
              </a:rPr>
              <a:t> Gemini API, OpenAI GPT-4 API</a:t>
            </a: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PPT Generation:</a:t>
            </a:r>
            <a:r>
              <a:rPr lang="en-IN" sz="3600" dirty="0">
                <a:solidFill>
                  <a:schemeClr val="bg1"/>
                </a:solidFill>
              </a:rPr>
              <a:t> python-pptx</a:t>
            </a: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Database:</a:t>
            </a:r>
            <a:r>
              <a:rPr lang="en-IN" sz="3600" dirty="0">
                <a:solidFill>
                  <a:schemeClr val="bg1"/>
                </a:solidFill>
              </a:rPr>
              <a:t> PostgreSQL</a:t>
            </a: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Authentication:</a:t>
            </a:r>
            <a:r>
              <a:rPr lang="en-IN" sz="3600" dirty="0">
                <a:solidFill>
                  <a:schemeClr val="bg1"/>
                </a:solidFill>
              </a:rPr>
              <a:t> BetterAuth.js</a:t>
            </a:r>
          </a:p>
          <a:p>
            <a:pPr marL="571500" indent="-571500">
              <a:buClr>
                <a:schemeClr val="bg1"/>
              </a:buClr>
              <a:buFont typeface="Wingdings" panose="05000000000000000000" pitchFamily="2" charset="2"/>
              <a:buChar char="q"/>
            </a:pPr>
            <a:endParaRPr lang="en-IN" sz="1200" dirty="0">
              <a:solidFill>
                <a:schemeClr val="bg1"/>
              </a:solidFill>
            </a:endParaRPr>
          </a:p>
          <a:p>
            <a:pPr marL="571500" indent="-571500">
              <a:buClr>
                <a:schemeClr val="bg1"/>
              </a:buClr>
              <a:buFont typeface="Wingdings" panose="05000000000000000000" pitchFamily="2" charset="2"/>
              <a:buChar char="q"/>
            </a:pPr>
            <a:r>
              <a:rPr lang="en-IN" sz="3600" b="1" dirty="0">
                <a:solidFill>
                  <a:schemeClr val="bg1"/>
                </a:solidFill>
              </a:rPr>
              <a:t>Storage:</a:t>
            </a:r>
            <a:r>
              <a:rPr lang="en-IN" sz="3600" dirty="0">
                <a:solidFill>
                  <a:schemeClr val="bg1"/>
                </a:solidFill>
              </a:rPr>
              <a:t> </a:t>
            </a:r>
            <a:r>
              <a:rPr lang="en-IN" sz="3600" dirty="0" err="1">
                <a:solidFill>
                  <a:schemeClr val="bg1"/>
                </a:solidFill>
              </a:rPr>
              <a:t>Supabase</a:t>
            </a:r>
            <a:endParaRPr lang="en-IN" sz="36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1"/>
        <p:cNvGrpSpPr/>
        <p:nvPr/>
      </p:nvGrpSpPr>
      <p:grpSpPr>
        <a:xfrm>
          <a:off x="0" y="0"/>
          <a:ext cx="0" cy="0"/>
          <a:chOff x="0" y="0"/>
          <a:chExt cx="0" cy="0"/>
        </a:xfrm>
      </p:grpSpPr>
      <p:sp>
        <p:nvSpPr>
          <p:cNvPr id="132" name="Google Shape;132;p19"/>
          <p:cNvSpPr/>
          <p:nvPr/>
        </p:nvSpPr>
        <p:spPr>
          <a:xfrm>
            <a:off x="-1028701" y="-59049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133" name="Google Shape;133;p19"/>
          <p:cNvSpPr txBox="1"/>
          <p:nvPr/>
        </p:nvSpPr>
        <p:spPr>
          <a:xfrm>
            <a:off x="863428" y="2616314"/>
            <a:ext cx="16395872" cy="87781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190" b="1" i="0" u="none" strike="noStrike" cap="none">
                <a:solidFill>
                  <a:srgbClr val="FFFFFF"/>
                </a:solidFill>
                <a:latin typeface="Arial"/>
                <a:ea typeface="Arial"/>
                <a:cs typeface="Arial"/>
                <a:sym typeface="Arial"/>
              </a:rPr>
              <a:t>Architecture / Process Flow / Use case Diagrams</a:t>
            </a:r>
            <a:endParaRPr/>
          </a:p>
        </p:txBody>
      </p:sp>
      <p:pic>
        <p:nvPicPr>
          <p:cNvPr id="135" name="Google Shape;135;p19" title="Microsoft Innovations Club (3) (2).png"/>
          <p:cNvPicPr preferRelativeResize="0"/>
          <p:nvPr/>
        </p:nvPicPr>
        <p:blipFill>
          <a:blip r:embed="rId4">
            <a:alphaModFix/>
          </a:blip>
          <a:stretch>
            <a:fillRect/>
          </a:stretch>
        </p:blipFill>
        <p:spPr>
          <a:xfrm>
            <a:off x="6117600" y="-144175"/>
            <a:ext cx="6052803" cy="3026401"/>
          </a:xfrm>
          <a:prstGeom prst="rect">
            <a:avLst/>
          </a:prstGeom>
          <a:noFill/>
          <a:ln>
            <a:noFill/>
          </a:ln>
        </p:spPr>
      </p:pic>
      <p:pic>
        <p:nvPicPr>
          <p:cNvPr id="3" name="Picture 2">
            <a:extLst>
              <a:ext uri="{FF2B5EF4-FFF2-40B4-BE49-F238E27FC236}">
                <a16:creationId xmlns:a16="http://schemas.microsoft.com/office/drawing/2014/main" id="{F6F074D7-138C-4A69-5A85-A343F4D9B173}"/>
              </a:ext>
            </a:extLst>
          </p:cNvPr>
          <p:cNvPicPr>
            <a:picLocks noChangeAspect="1"/>
          </p:cNvPicPr>
          <p:nvPr/>
        </p:nvPicPr>
        <p:blipFill>
          <a:blip r:embed="rId5"/>
          <a:stretch>
            <a:fillRect/>
          </a:stretch>
        </p:blipFill>
        <p:spPr>
          <a:xfrm>
            <a:off x="1287178" y="4085570"/>
            <a:ext cx="16283826" cy="4799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9"/>
        <p:cNvGrpSpPr/>
        <p:nvPr/>
      </p:nvGrpSpPr>
      <p:grpSpPr>
        <a:xfrm>
          <a:off x="0" y="0"/>
          <a:ext cx="0" cy="0"/>
          <a:chOff x="0" y="0"/>
          <a:chExt cx="0" cy="0"/>
        </a:xfrm>
      </p:grpSpPr>
      <p:sp>
        <p:nvSpPr>
          <p:cNvPr id="140" name="Google Shape;140;p20"/>
          <p:cNvSpPr/>
          <p:nvPr/>
        </p:nvSpPr>
        <p:spPr>
          <a:xfrm>
            <a:off x="-1028701" y="-5904900"/>
            <a:ext cx="27378789" cy="22858800"/>
          </a:xfrm>
          <a:custGeom>
            <a:avLst/>
            <a:gdLst/>
            <a:ahLst/>
            <a:cxnLst/>
            <a:rect l="l" t="t" r="r" b="b"/>
            <a:pathLst>
              <a:path w="23450783" h="20733605" extrusionOk="0">
                <a:moveTo>
                  <a:pt x="0" y="0"/>
                </a:moveTo>
                <a:lnTo>
                  <a:pt x="23450784" y="0"/>
                </a:lnTo>
                <a:lnTo>
                  <a:pt x="23450784" y="20733605"/>
                </a:lnTo>
                <a:lnTo>
                  <a:pt x="0" y="20733605"/>
                </a:lnTo>
                <a:lnTo>
                  <a:pt x="0" y="0"/>
                </a:lnTo>
                <a:close/>
              </a:path>
            </a:pathLst>
          </a:custGeom>
          <a:blipFill rotWithShape="1">
            <a:blip r:embed="rId3">
              <a:alphaModFix amt="27000"/>
            </a:blip>
            <a:stretch>
              <a:fillRect b="-13099"/>
            </a:stretch>
          </a:blipFill>
          <a:ln>
            <a:noFill/>
          </a:ln>
        </p:spPr>
      </p:sp>
      <p:sp>
        <p:nvSpPr>
          <p:cNvPr id="141" name="Google Shape;141;p20"/>
          <p:cNvSpPr/>
          <p:nvPr/>
        </p:nvSpPr>
        <p:spPr>
          <a:xfrm>
            <a:off x="7857558" y="807975"/>
            <a:ext cx="2421330" cy="2421330"/>
          </a:xfrm>
          <a:custGeom>
            <a:avLst/>
            <a:gdLst/>
            <a:ahLst/>
            <a:cxnLst/>
            <a:rect l="l" t="t" r="r" b="b"/>
            <a:pathLst>
              <a:path w="2421330" h="2421330" extrusionOk="0">
                <a:moveTo>
                  <a:pt x="0" y="0"/>
                </a:moveTo>
                <a:lnTo>
                  <a:pt x="2421330" y="0"/>
                </a:lnTo>
                <a:lnTo>
                  <a:pt x="2421330" y="2421330"/>
                </a:lnTo>
                <a:lnTo>
                  <a:pt x="0" y="2421330"/>
                </a:lnTo>
                <a:lnTo>
                  <a:pt x="0" y="0"/>
                </a:lnTo>
                <a:close/>
              </a:path>
            </a:pathLst>
          </a:custGeom>
          <a:blipFill rotWithShape="1">
            <a:blip r:embed="rId4">
              <a:alphaModFix amt="80000"/>
            </a:blip>
            <a:stretch>
              <a:fillRect/>
            </a:stretch>
          </a:blipFill>
          <a:ln>
            <a:noFill/>
          </a:ln>
        </p:spPr>
      </p:sp>
      <p:pic>
        <p:nvPicPr>
          <p:cNvPr id="142" name="Google Shape;142;p20" title="Microsoft Innovations Club (3) (2).png"/>
          <p:cNvPicPr preferRelativeResize="0"/>
          <p:nvPr/>
        </p:nvPicPr>
        <p:blipFill>
          <a:blip r:embed="rId5">
            <a:alphaModFix/>
          </a:blip>
          <a:stretch>
            <a:fillRect/>
          </a:stretch>
        </p:blipFill>
        <p:spPr>
          <a:xfrm>
            <a:off x="1887850" y="2182475"/>
            <a:ext cx="14082775" cy="70414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431</Words>
  <Application>Microsoft Office PowerPoint</Application>
  <PresentationFormat>Custom</PresentationFormat>
  <Paragraphs>59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 HARI S SIVASIDAMBARAM</cp:lastModifiedBy>
  <cp:revision>4</cp:revision>
  <dcterms:modified xsi:type="dcterms:W3CDTF">2025-10-25T17:57:13Z</dcterms:modified>
</cp:coreProperties>
</file>